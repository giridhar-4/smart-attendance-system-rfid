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4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0D3DE"/>
                </a:solidFill>
                <a:latin typeface="Aptos"/>
              </a:rPr>
              <a:t>IOT &amp; ROBOTICS  |  MAJOR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852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"/>
              </a:rPr>
              <a:t>SMART ATTENDANCE
SYSTEM USING RFID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971800"/>
            <a:ext cx="5394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BE8F4"/>
                </a:solidFill>
                <a:latin typeface="Aptos"/>
              </a:rPr>
              <a:t>ESP32 • RC522 RFID • 16x2 I2C LCD
LED and buzzer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21208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FFFFFF"/>
                </a:solidFill>
              </a:rPr>
              <a:t>PROJECT DOCUMENTATION</a:t>
            </a:r>
          </a:p>
          <a:p>
            <a:r>
              <a:rPr sz="1000" b="0">
                <a:solidFill>
                  <a:srgbClr val="FFFFFF"/>
                </a:solidFill>
              </a:rPr>
              <a:t>Source code, circuit and test results</a:t>
            </a:r>
          </a:p>
        </p:txBody>
      </p:sp>
      <p:pic>
        <p:nvPicPr>
          <p:cNvPr id="7" name="Picture 6" descr="prototype_view_1.jpg"/>
          <p:cNvPicPr>
            <a:picLocks noChangeAspect="1"/>
          </p:cNvPicPr>
          <p:nvPr/>
        </p:nvPicPr>
        <p:blipFill>
          <a:blip r:embed="rId2"/>
          <a:srcRect l="14763" r="14763"/>
          <a:stretch>
            <a:fillRect/>
          </a:stretch>
        </p:blipFill>
        <p:spPr>
          <a:xfrm>
            <a:off x="6583680" y="594360"/>
            <a:ext cx="4983480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5989320"/>
            <a:ext cx="4937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DBE8F4"/>
                </a:solidFill>
                <a:latin typeface="Aptos"/>
              </a:rPr>
              <a:t>Prototype photograph supplied by project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Problem Statement &amp; Aim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Why an RFID-based approach is useful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00200"/>
            <a:ext cx="530352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755648"/>
            <a:ext cx="4974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221992"/>
            <a:ext cx="497433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Manual attendance can take time and can lead to recording errors. Maintaining consistent and easily retrievable attendance records can be difficult with purely manual methods.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303520" cy="356616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55648"/>
            <a:ext cx="49743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Project 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221992"/>
            <a:ext cx="4974336" cy="28346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Build a small prototype that reads an RFID card, checks whether its UID is registered, and provides immediate LCD, LED, buzzer, and Serial Monitor feedback.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D6C7E"/>
                </a:solidFill>
                <a:latin typeface="Aptos"/>
              </a:rPr>
              <a:t>RFID helps automate card identification; a card UID alone does not prove the cardholder's identity.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Functions implemented in the supplied firmware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Read RC522 cards through SPI on the ESP32.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Map registered card UIDs to student names.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Store student registrations in ESP32 Preferences.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Show prompts and status messages on a 16x2 LCD.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Use red/green LEDs and a buzzer for feedback.</a:t>
            </a:r>
          </a:p>
          <a:p>
            <a:pPr>
              <a:spcAft>
                <a:spcPts val="1000"/>
              </a:spcAft>
              <a:defRPr sz="1600">
                <a:solidFill>
                  <a:srgbClr val="283444"/>
                </a:solidFill>
                <a:latin typeface="Aptos"/>
              </a:defRPr>
            </a:pPr>
            <a:r>
              <a:t>Prevent a second attendance mark for the same UID during the current power session.</a:t>
            </a:r>
          </a:p>
        </p:txBody>
      </p:sp>
      <p:pic>
        <p:nvPicPr>
          <p:cNvPr id="8" name="Picture 7" descr="prototype_view_2.jpg"/>
          <p:cNvPicPr>
            <a:picLocks noChangeAspect="1"/>
          </p:cNvPicPr>
          <p:nvPr/>
        </p:nvPicPr>
        <p:blipFill>
          <a:blip r:embed="rId2"/>
          <a:srcRect l="2108" r="2108"/>
          <a:stretch>
            <a:fillRect/>
          </a:stretch>
        </p:blipFill>
        <p:spPr>
          <a:xfrm>
            <a:off x="6583680" y="1572768"/>
            <a:ext cx="4846320" cy="37947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629400" y="5504688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Physical assembly documented in the supplied photo.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Hardware Components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Components used in the completed and tested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ESP32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39112"/>
            <a:ext cx="2916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Controller and program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41732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572768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RC522 RFID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2039112"/>
            <a:ext cx="2916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Reads a compatible card/tag UID.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41732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1572768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16x2 I2C LCD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28431" y="2039112"/>
            <a:ext cx="2916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Local prompts and result messages.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584448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Green + red LEDs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50791"/>
            <a:ext cx="2916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Visual feedback through 220 Ω resistors.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42900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3584448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Buzzer module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050791"/>
            <a:ext cx="2916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Provides audible feedback for scan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429000"/>
            <a:ext cx="32461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28431" y="3584448"/>
            <a:ext cx="291693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Breadboard + wires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28431" y="4050791"/>
            <a:ext cx="291693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Prototyping interconnections.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Data and control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33172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25603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Aptos"/>
              </a:rPr>
              <a:t>RFID Card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999232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83444"/>
                </a:solidFill>
                <a:latin typeface="Aptos"/>
              </a:rPr>
              <a:t>UID presented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33172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25603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Aptos"/>
              </a:rPr>
              <a:t>RC522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52928" y="2999232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83444"/>
                </a:solidFill>
                <a:latin typeface="Aptos"/>
              </a:rPr>
              <a:t>Reads card UID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2331720"/>
            <a:ext cx="1965960" cy="1463040"/>
          </a:xfrm>
          <a:prstGeom prst="roundRect">
            <a:avLst/>
          </a:prstGeom>
          <a:solidFill>
            <a:srgbClr val="E8F2FA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4648" y="25603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Aptos"/>
              </a:rPr>
              <a:t>ESP32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84648" y="2999232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83444"/>
                </a:solidFill>
                <a:latin typeface="Aptos"/>
              </a:rPr>
              <a:t>Checks registration
and duplicate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33172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16367" y="25603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Aptos"/>
              </a:rPr>
              <a:t>Outputs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7" y="2999232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83444"/>
                </a:solidFill>
                <a:latin typeface="Aptos"/>
              </a:rPr>
              <a:t>LCD + LEDs + buzzer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2331720"/>
            <a:ext cx="19659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48088" y="256032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42A43"/>
                </a:solidFill>
                <a:latin typeface="Aptos"/>
              </a:rPr>
              <a:t>Serial Monitor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48088" y="2999232"/>
            <a:ext cx="1737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83444"/>
                </a:solidFill>
                <a:latin typeface="Aptos"/>
              </a:rPr>
              <a:t>Status / event log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395728" y="2816352"/>
            <a:ext cx="310896" cy="256032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4727448" y="2816352"/>
            <a:ext cx="310896" cy="256032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059168" y="2816352"/>
            <a:ext cx="310896" cy="256032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9390888" y="2816352"/>
            <a:ext cx="310896" cy="256032"/>
          </a:xfrm>
          <a:prstGeom prst="rightArrow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05840" y="457200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70432" y="4727448"/>
            <a:ext cx="4425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Persistent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193792"/>
            <a:ext cx="44256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Registered UID/name mappings stored using ESP32 Preferences.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572000"/>
            <a:ext cx="47548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65392" y="4727448"/>
            <a:ext cx="44256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Session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5392" y="5193792"/>
            <a:ext cx="4425696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Attendance de-duplication is in RAM and resets after power cycle.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Circuit Design &amp; Pin Mapping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Pin mapping used in the tested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6</a:t>
            </a:r>
          </a:p>
        </p:txBody>
      </p:sp>
      <p:pic>
        <p:nvPicPr>
          <p:cNvPr id="7" name="Picture 6" descr="Smart_Attendance_Circuit_Pin_Mapping.png"/>
          <p:cNvPicPr>
            <a:picLocks noChangeAspect="1"/>
          </p:cNvPicPr>
          <p:nvPr/>
        </p:nvPicPr>
        <p:blipFill>
          <a:blip r:embed="rId2"/>
          <a:srcRect t="13440" b="13440"/>
          <a:stretch>
            <a:fillRect/>
          </a:stretch>
        </p:blipFill>
        <p:spPr>
          <a:xfrm>
            <a:off x="548640" y="1234440"/>
            <a:ext cx="11064240" cy="53035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6327648"/>
            <a:ext cx="10789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B13939"/>
                </a:solidFill>
                <a:latin typeface="Aptos"/>
              </a:rPr>
              <a:t>Safety: RC522 uses 3.3V; ensure LCD I2C signals are 3.3V-safe; confirm buzzer pinout.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Working Principle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Card scan decision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66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72768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1. Startup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039112"/>
            <a:ext cx="4837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Initialize Serial, GPIO, LCD, SPI and RC522.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417320"/>
            <a:ext cx="5166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1572768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2. Load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2039112"/>
            <a:ext cx="4837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Read registered student UID/name pairs from Preferences.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926080"/>
            <a:ext cx="5166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081528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3. Scan card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3547872"/>
            <a:ext cx="4837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Read and normalize the RFID UID.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926080"/>
            <a:ext cx="5166360" cy="1207008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3081528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B13939"/>
                </a:solidFill>
                <a:latin typeface="Aptos"/>
              </a:rPr>
              <a:t>4. Check UID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3547872"/>
            <a:ext cx="4837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Unknown UID -&gt; red LED and not-registered message.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434840"/>
            <a:ext cx="5166360" cy="1207008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590288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5. Check duplicate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5056631"/>
            <a:ext cx="4837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Already marked this session -&gt; already-marked message.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434840"/>
            <a:ext cx="51663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590288"/>
            <a:ext cx="483717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6. Mark attendance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056631"/>
            <a:ext cx="4837176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Registered, not yet marked -&gt; green LED, name message and success beep.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Software Features &amp; Serial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Open Serial Monitor at 115200 baud; select Newline as line 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55778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160520"/>
              </a:tblGrid>
              <a:tr h="7429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marL="73152" marR="54864">
                    <a:solidFill>
                      <a:srgbClr val="14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73152" marR="54864">
                    <a:solidFill>
                      <a:srgbClr val="142A4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444"/>
                          </a:solidFill>
                          <a:latin typeface="Aptos"/>
                        </a:rPr>
                        <a:t>HELP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444"/>
                          </a:solidFill>
                          <a:latin typeface="Aptos"/>
                        </a:rPr>
                        <a:t>Shows command list and usage.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444"/>
                          </a:solidFill>
                          <a:latin typeface="Aptos"/>
                        </a:rPr>
                        <a:t>LIST</a:t>
                      </a:r>
                    </a:p>
                  </a:txBody>
                  <a:tcPr marL="73152" marR="54864">
                    <a:solidFill>
                      <a:srgbClr val="E8F2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444"/>
                          </a:solidFill>
                          <a:latin typeface="Aptos"/>
                        </a:rPr>
                        <a:t>Lists registered cards/names.</a:t>
                      </a:r>
                    </a:p>
                  </a:txBody>
                  <a:tcPr marL="73152" marR="54864">
                    <a:solidFill>
                      <a:srgbClr val="E8F2FA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444"/>
                          </a:solidFill>
                          <a:latin typeface="Aptos"/>
                        </a:rPr>
                        <a:t>ADD &lt;UID&gt; &lt;Name&gt;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83444"/>
                          </a:solidFill>
                          <a:latin typeface="Aptos"/>
                        </a:rPr>
                        <a:t>Registers or updates a card UID/name.</a:t>
                      </a:r>
                    </a:p>
                  </a:txBody>
                  <a:tcPr marL="73152" marR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12280" y="1508760"/>
            <a:ext cx="45262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664207"/>
            <a:ext cx="41970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"/>
              </a:rPr>
              <a:t>Example format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130552"/>
            <a:ext cx="4197096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ADD 04:A1:B2:C3 Student One
Replace the example UID with the exact UID printed after a real card scan.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657600"/>
            <a:ext cx="4526280" cy="160020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3813048"/>
            <a:ext cx="419709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28428"/>
                </a:solidFill>
                <a:latin typeface="Aptos"/>
              </a:rPr>
              <a:t>Time limitation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4279392"/>
            <a:ext cx="4197096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The code logs elapsed uptime (millis), not a calendar date/time. An RTC or synchronized time source would be needed for real timestamps.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Prototype Photos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The pictures document the physical assembly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9</a:t>
            </a:r>
          </a:p>
        </p:txBody>
      </p:sp>
      <p:pic>
        <p:nvPicPr>
          <p:cNvPr id="7" name="Picture 6" descr="prototype_view_1.jpg"/>
          <p:cNvPicPr>
            <a:picLocks noChangeAspect="1"/>
          </p:cNvPicPr>
          <p:nvPr/>
        </p:nvPicPr>
        <p:blipFill>
          <a:blip r:embed="rId2"/>
          <a:srcRect l="4082" r="4082"/>
          <a:stretch>
            <a:fillRect/>
          </a:stretch>
        </p:blipFill>
        <p:spPr>
          <a:xfrm>
            <a:off x="502920" y="1417320"/>
            <a:ext cx="5486400" cy="4480560"/>
          </a:xfrm>
          <a:prstGeom prst="rect">
            <a:avLst/>
          </a:prstGeom>
        </p:spPr>
      </p:pic>
      <p:pic>
        <p:nvPicPr>
          <p:cNvPr id="8" name="Picture 7" descr="prototype_view_2.jpg"/>
          <p:cNvPicPr>
            <a:picLocks noChangeAspect="1"/>
          </p:cNvPicPr>
          <p:nvPr/>
        </p:nvPicPr>
        <p:blipFill>
          <a:blip r:embed="rId3"/>
          <a:srcRect t="23669" b="23669"/>
          <a:stretch>
            <a:fillRect/>
          </a:stretch>
        </p:blipFill>
        <p:spPr>
          <a:xfrm>
            <a:off x="6217920" y="1417320"/>
            <a:ext cx="5440680" cy="2148840"/>
          </a:xfrm>
          <a:prstGeom prst="rect">
            <a:avLst/>
          </a:prstGeom>
        </p:spPr>
      </p:pic>
      <p:pic>
        <p:nvPicPr>
          <p:cNvPr id="9" name="Picture 8" descr="prototype_view_3.jpg"/>
          <p:cNvPicPr>
            <a:picLocks noChangeAspect="1"/>
          </p:cNvPicPr>
          <p:nvPr/>
        </p:nvPicPr>
        <p:blipFill>
          <a:blip r:embed="rId4"/>
          <a:srcRect t="26780" b="26780"/>
          <a:stretch>
            <a:fillRect/>
          </a:stretch>
        </p:blipFill>
        <p:spPr>
          <a:xfrm>
            <a:off x="6217920" y="3749039"/>
            <a:ext cx="5440680" cy="2148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989320"/>
            <a:ext cx="5486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C7E"/>
                </a:solidFill>
                <a:latin typeface="Aptos"/>
              </a:rPr>
              <a:t>View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5989320"/>
            <a:ext cx="5440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C7E"/>
                </a:solidFill>
                <a:latin typeface="Aptos"/>
              </a:rPr>
              <a:t>Alternate views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42A43"/>
                </a:solidFill>
                <a:latin typeface="Aptos"/>
              </a:rPr>
              <a:t>Testing &amp;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22960"/>
            <a:ext cx="1005840" cy="54864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D6C7E"/>
                </a:solidFill>
                <a:latin typeface="Aptos"/>
              </a:rPr>
              <a:t>All functional tests completed successfully on the assembled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5D6C7E"/>
                </a:solidFill>
                <a:latin typeface="Apto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1572768"/>
            <a:ext cx="30998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 Display"/>
              </a:rPr>
              <a:t>Assembly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039112"/>
            <a:ext cx="3099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Completed prototype assembled and documented in photographs.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72768"/>
            <a:ext cx="30998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 Display"/>
              </a:rPr>
              <a:t>Compilation &amp;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099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Firmware compiled and uploaded to the ESP32 successfully.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429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572768"/>
            <a:ext cx="30998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 Display"/>
              </a:rPr>
              <a:t>LCD display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2752" y="2039112"/>
            <a:ext cx="3099816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Startup message and “Scan your card” prompt displayed correctly.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5257800" cy="164592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358444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28428"/>
                </a:solidFill>
                <a:latin typeface="Aptos Display"/>
              </a:rPr>
              <a:t>RFID card tests passed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4050791"/>
            <a:ext cx="49286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0"/>
              </a:spcAft>
            </a:pPr>
            <a:r>
              <a:rPr sz="1250" b="0">
                <a:solidFill>
                  <a:srgbClr val="283444"/>
                </a:solidFill>
                <a:latin typeface="Aptos"/>
              </a:rPr>
              <a:t>Registered card: attendance marked and student name displayed. Unregistered card: “Not registered”. Repeat scan: “Already marked”; no duplicate attendance during the current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29000"/>
            <a:ext cx="525780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3584448"/>
            <a:ext cx="4928616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E7490"/>
                </a:solidFill>
                <a:latin typeface="Aptos Display"/>
              </a:rPr>
              <a:t>Indicators &amp; Serial 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050791"/>
            <a:ext cx="4928616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83444"/>
                </a:solidFill>
                <a:latin typeface="Aptos"/>
              </a:rPr>
              <a:t>Green LED and success beep confirmed accepted cards; red LED and error beeps flagged unregistered cards. Serial Monitor displayed card UIDs and attendance events.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70D3DE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400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The RFID attendance workflow was implemented and tested successfully.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743200"/>
            <a:ext cx="557784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BE8F4"/>
                </a:solidFill>
                <a:latin typeface="Aptos"/>
              </a:rPr>
              <a:t>The source code supports UID registration, student-name lookup, LCD status messages, LED/buzzer feedback, session duplicate checking, and serial logging.</a:t>
            </a:r>
          </a:p>
        </p:txBody>
      </p:sp>
      <p:pic>
        <p:nvPicPr>
          <p:cNvPr id="6" name="Picture 5" descr="prototype_view_3.jpg"/>
          <p:cNvPicPr>
            <a:picLocks noChangeAspect="1"/>
          </p:cNvPicPr>
          <p:nvPr/>
        </p:nvPicPr>
        <p:blipFill>
          <a:blip r:embed="rId2"/>
          <a:srcRect l="1596" r="1596"/>
          <a:stretch>
            <a:fillRect/>
          </a:stretch>
        </p:blipFill>
        <p:spPr>
          <a:xfrm>
            <a:off x="6629400" y="1097280"/>
            <a:ext cx="4892040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074920"/>
            <a:ext cx="5577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FFD166"/>
                </a:solidFill>
                <a:latin typeface="Aptos"/>
              </a:rPr>
              <a:t>Result: all functional tests in the implemented project scope passed successfully.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DBE8F4"/>
                </a:solidFill>
                <a:latin typeface="Aptos"/>
              </a:rPr>
              <a:t>Smart Attendance System Using RFID  |  Major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Smart Attendance System Using RFID</dc:title>
  <dc:subject>ESP32 and RC522 RFID attendance prototype</dc:subject>
  <dc:creator/>
  <ns0:keywords>ESP32, RFID, RC522, smart attendance</ns0:keywords>
  <dc:description/>
  <ns0:lastModifiedBy/>
  <ns0:revision>1</ns0:revision>
  <ns2:created xsi:type="dcterms:W3CDTF">2013-01-27T09:14:16Z</ns2:created>
  <ns2:modified xsi:type="dcterms:W3CDTF">2013-01-27T09:15:58Z</ns2:modified>
  <ns0:category>Project Documentation</ns0:category>
</ns0:coreProperties>
</file>